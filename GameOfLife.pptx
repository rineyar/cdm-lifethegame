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1" r:id="rId4"/>
    <p:sldId id="260" r:id="rId5"/>
    <p:sldId id="258" r:id="rId6"/>
    <p:sldId id="262" r:id="rId7"/>
    <p:sldId id="264" r:id="rId8"/>
    <p:sldId id="263" r:id="rId9"/>
    <p:sldId id="265" r:id="rId10"/>
    <p:sldId id="266" r:id="rId11"/>
    <p:sldId id="267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FF1D"/>
    <a:srgbClr val="0900C2"/>
    <a:srgbClr val="0C00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56" autoAdjust="0"/>
    <p:restoredTop sz="94660"/>
  </p:normalViewPr>
  <p:slideViewPr>
    <p:cSldViewPr>
      <p:cViewPr varScale="1">
        <p:scale>
          <a:sx n="110" d="100"/>
          <a:sy n="110" d="100"/>
        </p:scale>
        <p:origin x="-1710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701980-7080-45E9-A76B-DF6F4B04EE3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1422F-FEB0-4D43-BFB8-D9CE0D2A3C1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0701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Картинку заменить позже</a:t>
            </a:r>
            <a:r>
              <a:rPr lang="ru-RU" baseline="0" dirty="0" smtClean="0"/>
              <a:t> после добавления новых пресетов + кнопки некоторые назвать бы по другому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Так</a:t>
            </a:r>
            <a:r>
              <a:rPr lang="ru-RU" baseline="0" dirty="0" smtClean="0"/>
              <a:t> же картинка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1422F-FEB0-4D43-BFB8-D9CE0D2A3C18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86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6144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020904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241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8514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7447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1213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49514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1746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467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704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9660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363017-527F-4884-94E3-7C0A28AAD0EC}" type="datetimeFigureOut">
              <a:rPr lang="ru-RU" smtClean="0"/>
              <a:t>17.05.2026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DFC40-628D-4EA0-89C4-211413443DA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79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71800" y="2567225"/>
            <a:ext cx="5524269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 smtClean="0">
                <a:solidFill>
                  <a:srgbClr val="C00000"/>
                </a:solidFill>
                <a:latin typeface="Cooper Black" panose="0208090404030B020404" pitchFamily="18" charset="0"/>
              </a:rPr>
              <a:t>The </a:t>
            </a:r>
            <a:r>
              <a:rPr lang="en-US" sz="4000" dirty="0" smtClean="0">
                <a:solidFill>
                  <a:srgbClr val="C00000"/>
                </a:solidFill>
                <a:latin typeface="Cooper Black" panose="0208090404030B020404" pitchFamily="18" charset="0"/>
              </a:rPr>
              <a:t>Convey’s</a:t>
            </a:r>
            <a:endParaRPr lang="ru-RU" sz="4000" dirty="0" smtClean="0">
              <a:solidFill>
                <a:srgbClr val="C00000"/>
              </a:solidFill>
              <a:latin typeface="Cooper Black" panose="0208090404030B020404" pitchFamily="18" charset="0"/>
            </a:endParaRPr>
          </a:p>
          <a:p>
            <a:r>
              <a:rPr lang="en-US" sz="6600" dirty="0" smtClean="0">
                <a:solidFill>
                  <a:srgbClr val="C00000"/>
                </a:solidFill>
                <a:latin typeface="Cooper Black" panose="0208090404030B020404" pitchFamily="18" charset="0"/>
              </a:rPr>
              <a:t>Game </a:t>
            </a:r>
            <a:r>
              <a:rPr lang="en-US" sz="6600" dirty="0" smtClean="0">
                <a:solidFill>
                  <a:srgbClr val="C00000"/>
                </a:solidFill>
                <a:latin typeface="Cooper Black" panose="0208090404030B020404" pitchFamily="18" charset="0"/>
              </a:rPr>
              <a:t>of Life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780184" y="5049688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074661" y="5337720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3074661" y="5597917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2780184" y="5597917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2492152" y="5597917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005249" y="1124744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8293281" y="1429772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8581313" y="1734800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581313" y="2022832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7164288" y="1735993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3635896" y="6453336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3923928" y="6453336"/>
            <a:ext cx="288032" cy="28803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0467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83768" y="1196752"/>
            <a:ext cx="402546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Правила</a:t>
            </a:r>
            <a:r>
              <a:rPr lang="ru-RU" sz="4400" b="1" dirty="0" smtClean="0">
                <a:latin typeface="Consolas" panose="020B0609020204030204" pitchFamily="49" charset="0"/>
              </a:rPr>
              <a:t> игры:</a:t>
            </a:r>
            <a:endParaRPr lang="en-US" sz="4400" b="1" dirty="0" smtClean="0">
              <a:latin typeface="Consolas" panose="020B0609020204030204" pitchFamily="49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483768" y="2276871"/>
            <a:ext cx="640871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latin typeface="Consolas" panose="020B0609020204030204" pitchFamily="49" charset="0"/>
              </a:rPr>
              <a:t>1.</a:t>
            </a:r>
            <a:r>
              <a:rPr lang="ru-RU" sz="2000" dirty="0" smtClean="0">
                <a:latin typeface="Consolas" panose="020B0609020204030204" pitchFamily="49" charset="0"/>
              </a:rPr>
              <a:t> Живая </a:t>
            </a:r>
            <a:r>
              <a:rPr lang="ru-RU" sz="2000" dirty="0">
                <a:latin typeface="Consolas" panose="020B0609020204030204" pitchFamily="49" charset="0"/>
              </a:rPr>
              <a:t>клетка с менее чем двумя живыми соседями </a:t>
            </a:r>
            <a:r>
              <a:rPr lang="ru-RU" sz="2000" dirty="0" smtClean="0">
                <a:latin typeface="Consolas" panose="020B0609020204030204" pitchFamily="49" charset="0"/>
              </a:rPr>
              <a:t>умирает.</a:t>
            </a:r>
            <a:endParaRPr lang="ru-RU" sz="2000" dirty="0">
              <a:latin typeface="Consolas" panose="020B0609020204030204" pitchFamily="49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483768" y="3167800"/>
            <a:ext cx="640871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latin typeface="Consolas" panose="020B0609020204030204" pitchFamily="49" charset="0"/>
              </a:rPr>
              <a:t>2.</a:t>
            </a:r>
            <a:r>
              <a:rPr lang="ru-RU" sz="2000" dirty="0" smtClean="0">
                <a:latin typeface="Consolas" panose="020B0609020204030204" pitchFamily="49" charset="0"/>
              </a:rPr>
              <a:t> Живая </a:t>
            </a:r>
            <a:r>
              <a:rPr lang="ru-RU" sz="2000" dirty="0">
                <a:latin typeface="Consolas" panose="020B0609020204030204" pitchFamily="49" charset="0"/>
              </a:rPr>
              <a:t>клетка с двумя или тремя живыми соседями продолжает жить в следующем </a:t>
            </a:r>
            <a:r>
              <a:rPr lang="ru-RU" sz="2000" dirty="0" smtClean="0">
                <a:latin typeface="Consolas" panose="020B0609020204030204" pitchFamily="49" charset="0"/>
              </a:rPr>
              <a:t>поколении.</a:t>
            </a:r>
            <a:endParaRPr lang="ru-RU" sz="2000" dirty="0">
              <a:latin typeface="Consolas" panose="020B0609020204030204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2483768" y="4449306"/>
            <a:ext cx="640871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latin typeface="Consolas" panose="020B0609020204030204" pitchFamily="49" charset="0"/>
              </a:rPr>
              <a:t>3.</a:t>
            </a:r>
            <a:r>
              <a:rPr lang="ru-RU" sz="2000" dirty="0" smtClean="0">
                <a:latin typeface="Consolas" panose="020B0609020204030204" pitchFamily="49" charset="0"/>
              </a:rPr>
              <a:t> Живая </a:t>
            </a:r>
            <a:r>
              <a:rPr lang="ru-RU" sz="2000" dirty="0">
                <a:latin typeface="Consolas" panose="020B0609020204030204" pitchFamily="49" charset="0"/>
              </a:rPr>
              <a:t>клетка с более чем тремя соседями умирает от перенаселения.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2483768" y="5457418"/>
            <a:ext cx="640871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latin typeface="Consolas" panose="020B0609020204030204" pitchFamily="49" charset="0"/>
              </a:rPr>
              <a:t>4.</a:t>
            </a:r>
            <a:r>
              <a:rPr lang="ru-RU" sz="2000" dirty="0" smtClean="0">
                <a:latin typeface="Consolas" panose="020B0609020204030204" pitchFamily="49" charset="0"/>
              </a:rPr>
              <a:t> Мёртвая </a:t>
            </a:r>
            <a:r>
              <a:rPr lang="ru-RU" sz="2000" dirty="0">
                <a:latin typeface="Consolas" panose="020B0609020204030204" pitchFamily="49" charset="0"/>
              </a:rPr>
              <a:t>клетка с тремя живыми соседями становится живой.</a:t>
            </a:r>
          </a:p>
        </p:txBody>
      </p:sp>
    </p:spTree>
    <p:extLst>
      <p:ext uri="{BB962C8B-B14F-4D97-AF65-F5344CB8AC3E}">
        <p14:creationId xmlns:p14="http://schemas.microsoft.com/office/powerpoint/2010/main" val="592349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546886" y="1416929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058014" y="1417155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563888" y="1417155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545068" y="1884981"/>
            <a:ext cx="500420" cy="468052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3562070" y="1885207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2546886" y="2353033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3058014" y="2353259"/>
            <a:ext cx="500420" cy="468052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3563888" y="2353259"/>
            <a:ext cx="500420" cy="4680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3056196" y="1885207"/>
            <a:ext cx="500420" cy="468052"/>
          </a:xfrm>
          <a:prstGeom prst="rect">
            <a:avLst/>
          </a:prstGeom>
          <a:solidFill>
            <a:srgbClr val="05FF1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630" y="3284983"/>
            <a:ext cx="6254086" cy="29957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6561" y="1411121"/>
            <a:ext cx="4680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onsolas" panose="020B0609020204030204" pitchFamily="49" charset="0"/>
              </a:rPr>
              <a:t>&lt; </a:t>
            </a:r>
            <a:r>
              <a:rPr lang="ru-RU" sz="2000" dirty="0" smtClean="0">
                <a:latin typeface="Consolas" panose="020B0609020204030204" pitchFamily="49" charset="0"/>
              </a:rPr>
              <a:t>У живой клетки два живых соседа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979" y="5945047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u="sng" dirty="0" smtClean="0">
                <a:latin typeface="Consolas" panose="020B0609020204030204" pitchFamily="49" charset="0"/>
              </a:rPr>
              <a:t>Остаётся живой!</a:t>
            </a:r>
            <a:endParaRPr lang="ru-RU" sz="2400" b="1" u="sng" dirty="0">
              <a:latin typeface="Consolas" panose="020B0609020204030204" pitchFamily="49" charset="0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2776273"/>
            <a:ext cx="817750" cy="7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918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01" y="10394"/>
            <a:ext cx="9144000" cy="685800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2627784" y="13865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3131840" y="13865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3635896" y="13865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9" name="Прямоугольник 48"/>
          <p:cNvSpPr/>
          <p:nvPr/>
        </p:nvSpPr>
        <p:spPr>
          <a:xfrm>
            <a:off x="4139952" y="13865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4644008" y="13865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627784" y="18905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131840" y="18905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3635896" y="189057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4139952" y="18905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4644008" y="18905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6" name="Прямоугольник 55"/>
          <p:cNvSpPr/>
          <p:nvPr/>
        </p:nvSpPr>
        <p:spPr>
          <a:xfrm>
            <a:off x="2627784" y="23946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3131840" y="23946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3635896" y="23946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4139952" y="2394628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Прямоугольник 59"/>
          <p:cNvSpPr/>
          <p:nvPr/>
        </p:nvSpPr>
        <p:spPr>
          <a:xfrm>
            <a:off x="4644008" y="23946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" name="Прямоугольник 60"/>
          <p:cNvSpPr/>
          <p:nvPr/>
        </p:nvSpPr>
        <p:spPr>
          <a:xfrm>
            <a:off x="2627784" y="28986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3131840" y="28986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3" name="Прямоугольник 62"/>
          <p:cNvSpPr/>
          <p:nvPr/>
        </p:nvSpPr>
        <p:spPr>
          <a:xfrm>
            <a:off x="3635896" y="28986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4139952" y="28986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Прямоугольник 64"/>
          <p:cNvSpPr/>
          <p:nvPr/>
        </p:nvSpPr>
        <p:spPr>
          <a:xfrm>
            <a:off x="4644008" y="28986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2627784" y="34027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7" name="Прямоугольник 66"/>
          <p:cNvSpPr/>
          <p:nvPr/>
        </p:nvSpPr>
        <p:spPr>
          <a:xfrm>
            <a:off x="3131840" y="34027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3635896" y="34027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9" name="Прямоугольник 68"/>
          <p:cNvSpPr/>
          <p:nvPr/>
        </p:nvSpPr>
        <p:spPr>
          <a:xfrm>
            <a:off x="4139952" y="34027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4644008" y="34027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1" name="Прямоугольник 70"/>
          <p:cNvSpPr/>
          <p:nvPr/>
        </p:nvSpPr>
        <p:spPr>
          <a:xfrm>
            <a:off x="4139952" y="139500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2" name="Прямоугольник 71"/>
          <p:cNvSpPr/>
          <p:nvPr/>
        </p:nvSpPr>
        <p:spPr>
          <a:xfrm>
            <a:off x="4644008" y="139500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 72"/>
          <p:cNvSpPr/>
          <p:nvPr/>
        </p:nvSpPr>
        <p:spPr>
          <a:xfrm>
            <a:off x="4644008" y="189906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4" name="Прямоугольник 73"/>
          <p:cNvSpPr/>
          <p:nvPr/>
        </p:nvSpPr>
        <p:spPr>
          <a:xfrm>
            <a:off x="4644008" y="240311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 74"/>
          <p:cNvSpPr/>
          <p:nvPr/>
        </p:nvSpPr>
        <p:spPr>
          <a:xfrm>
            <a:off x="2627784" y="29071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6" name="Прямоугольник 75"/>
          <p:cNvSpPr/>
          <p:nvPr/>
        </p:nvSpPr>
        <p:spPr>
          <a:xfrm>
            <a:off x="3131840" y="290717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 76"/>
          <p:cNvSpPr/>
          <p:nvPr/>
        </p:nvSpPr>
        <p:spPr>
          <a:xfrm>
            <a:off x="3635896" y="290717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8" name="Прямоугольник 77"/>
          <p:cNvSpPr/>
          <p:nvPr/>
        </p:nvSpPr>
        <p:spPr>
          <a:xfrm>
            <a:off x="4139952" y="290717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9" name="Прямоугольник 78"/>
          <p:cNvSpPr/>
          <p:nvPr/>
        </p:nvSpPr>
        <p:spPr>
          <a:xfrm>
            <a:off x="4644008" y="290717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0" name="Прямоугольник 79"/>
          <p:cNvSpPr/>
          <p:nvPr/>
        </p:nvSpPr>
        <p:spPr>
          <a:xfrm>
            <a:off x="2627784" y="34112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1" name="Прямоугольник 80"/>
          <p:cNvSpPr/>
          <p:nvPr/>
        </p:nvSpPr>
        <p:spPr>
          <a:xfrm>
            <a:off x="3131840" y="34112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2" name="Прямоугольник 81"/>
          <p:cNvSpPr/>
          <p:nvPr/>
        </p:nvSpPr>
        <p:spPr>
          <a:xfrm>
            <a:off x="3635896" y="34112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3" name="Прямоугольник 82"/>
          <p:cNvSpPr/>
          <p:nvPr/>
        </p:nvSpPr>
        <p:spPr>
          <a:xfrm>
            <a:off x="4139952" y="34112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Прямоугольник 83"/>
          <p:cNvSpPr/>
          <p:nvPr/>
        </p:nvSpPr>
        <p:spPr>
          <a:xfrm>
            <a:off x="4644008" y="34112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5" name="Прямоугольник 84"/>
          <p:cNvSpPr/>
          <p:nvPr/>
        </p:nvSpPr>
        <p:spPr>
          <a:xfrm>
            <a:off x="5580112" y="37890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6" name="Прямоугольник 85"/>
          <p:cNvSpPr/>
          <p:nvPr/>
        </p:nvSpPr>
        <p:spPr>
          <a:xfrm>
            <a:off x="6084168" y="37890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7" name="Прямоугольник 86"/>
          <p:cNvSpPr/>
          <p:nvPr/>
        </p:nvSpPr>
        <p:spPr>
          <a:xfrm>
            <a:off x="6588224" y="37890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8" name="Прямоугольник 87"/>
          <p:cNvSpPr/>
          <p:nvPr/>
        </p:nvSpPr>
        <p:spPr>
          <a:xfrm>
            <a:off x="5580112" y="42930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6084168" y="42930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6588224" y="42930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ик 90"/>
          <p:cNvSpPr/>
          <p:nvPr/>
        </p:nvSpPr>
        <p:spPr>
          <a:xfrm>
            <a:off x="7092280" y="42930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ик 91"/>
          <p:cNvSpPr/>
          <p:nvPr/>
        </p:nvSpPr>
        <p:spPr>
          <a:xfrm>
            <a:off x="5580112" y="47971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ик 92"/>
          <p:cNvSpPr/>
          <p:nvPr/>
        </p:nvSpPr>
        <p:spPr>
          <a:xfrm>
            <a:off x="6084168" y="479715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4" name="Прямоугольник 93"/>
          <p:cNvSpPr/>
          <p:nvPr/>
        </p:nvSpPr>
        <p:spPr>
          <a:xfrm>
            <a:off x="6588224" y="47971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5" name="Прямоугольник 94"/>
          <p:cNvSpPr/>
          <p:nvPr/>
        </p:nvSpPr>
        <p:spPr>
          <a:xfrm>
            <a:off x="7092280" y="479715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6" name="Прямоугольник 95"/>
          <p:cNvSpPr/>
          <p:nvPr/>
        </p:nvSpPr>
        <p:spPr>
          <a:xfrm>
            <a:off x="7092280" y="37975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7" name="Прямоугольник 96"/>
          <p:cNvSpPr/>
          <p:nvPr/>
        </p:nvSpPr>
        <p:spPr>
          <a:xfrm>
            <a:off x="7596336" y="3797528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8" name="Прямоугольник 97"/>
          <p:cNvSpPr/>
          <p:nvPr/>
        </p:nvSpPr>
        <p:spPr>
          <a:xfrm>
            <a:off x="7596336" y="4301584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Прямоугольник 98"/>
          <p:cNvSpPr/>
          <p:nvPr/>
        </p:nvSpPr>
        <p:spPr>
          <a:xfrm>
            <a:off x="7596336" y="4805640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0" name="Прямоугольник 99"/>
          <p:cNvSpPr/>
          <p:nvPr/>
        </p:nvSpPr>
        <p:spPr>
          <a:xfrm>
            <a:off x="5580112" y="53096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1" name="Прямоугольник 100"/>
          <p:cNvSpPr/>
          <p:nvPr/>
        </p:nvSpPr>
        <p:spPr>
          <a:xfrm>
            <a:off x="6084168" y="53096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2" name="Прямоугольник 101"/>
          <p:cNvSpPr/>
          <p:nvPr/>
        </p:nvSpPr>
        <p:spPr>
          <a:xfrm>
            <a:off x="6588224" y="5309696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3" name="Прямоугольник 102"/>
          <p:cNvSpPr/>
          <p:nvPr/>
        </p:nvSpPr>
        <p:spPr>
          <a:xfrm>
            <a:off x="7092280" y="5309696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4" name="Прямоугольник 103"/>
          <p:cNvSpPr/>
          <p:nvPr/>
        </p:nvSpPr>
        <p:spPr>
          <a:xfrm>
            <a:off x="7596336" y="5309696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5" name="Прямоугольник 104"/>
          <p:cNvSpPr/>
          <p:nvPr/>
        </p:nvSpPr>
        <p:spPr>
          <a:xfrm>
            <a:off x="5580112" y="58137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6" name="Прямоугольник 105"/>
          <p:cNvSpPr/>
          <p:nvPr/>
        </p:nvSpPr>
        <p:spPr>
          <a:xfrm>
            <a:off x="6084168" y="58137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7" name="Прямоугольник 106"/>
          <p:cNvSpPr/>
          <p:nvPr/>
        </p:nvSpPr>
        <p:spPr>
          <a:xfrm>
            <a:off x="6588224" y="5813752"/>
            <a:ext cx="504056" cy="504056"/>
          </a:xfrm>
          <a:prstGeom prst="rect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8" name="Прямоугольник 107"/>
          <p:cNvSpPr/>
          <p:nvPr/>
        </p:nvSpPr>
        <p:spPr>
          <a:xfrm>
            <a:off x="7092280" y="58137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9" name="Прямоугольник 108"/>
          <p:cNvSpPr/>
          <p:nvPr/>
        </p:nvSpPr>
        <p:spPr>
          <a:xfrm>
            <a:off x="7596336" y="5813752"/>
            <a:ext cx="504056" cy="5040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466318" y="2209992"/>
            <a:ext cx="2747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latin typeface="Consolas" panose="020B0609020204030204" pitchFamily="49" charset="0"/>
              </a:rPr>
              <a:t>&lt; </a:t>
            </a:r>
            <a:r>
              <a:rPr lang="ru-RU" sz="2800" b="1" dirty="0" smtClean="0">
                <a:latin typeface="Consolas" panose="020B0609020204030204" pitchFamily="49" charset="0"/>
              </a:rPr>
              <a:t>Поколение 1</a:t>
            </a:r>
            <a:endParaRPr lang="ru-RU" sz="2800" b="1" dirty="0">
              <a:latin typeface="Consolas" panose="020B0609020204030204" pitchFamily="49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2627784" y="4869160"/>
            <a:ext cx="2747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 smtClean="0">
                <a:latin typeface="Consolas" panose="020B0609020204030204" pitchFamily="49" charset="0"/>
              </a:rPr>
              <a:t>Поколение </a:t>
            </a:r>
            <a:r>
              <a:rPr lang="en-US" sz="2800" b="1" dirty="0" smtClean="0">
                <a:latin typeface="Consolas" panose="020B0609020204030204" pitchFamily="49" charset="0"/>
              </a:rPr>
              <a:t>2 &gt;</a:t>
            </a:r>
            <a:endParaRPr lang="ru-RU" sz="2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610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8700" y="1196752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Графический процессор</a:t>
            </a:r>
            <a:endParaRPr lang="en-US" sz="4000" b="1" dirty="0" smtClean="0">
              <a:latin typeface="Consolas" panose="020B0609020204030204" pitchFamily="49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21" y="4540180"/>
            <a:ext cx="4124901" cy="1047896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8105" y="3882186"/>
            <a:ext cx="1045521" cy="670206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0618" y="3311482"/>
            <a:ext cx="550772" cy="53627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41721" y="3394954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Consolas" panose="020B0609020204030204" pitchFamily="49" charset="0"/>
              </a:rPr>
              <a:t>Клетка </a:t>
            </a:r>
            <a:r>
              <a:rPr lang="en-US" b="1" dirty="0" smtClean="0">
                <a:latin typeface="Consolas" panose="020B0609020204030204" pitchFamily="49" charset="0"/>
              </a:rPr>
              <a:t>&gt;</a:t>
            </a:r>
            <a:endParaRPr lang="ru-RU" b="1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1721" y="4032623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Consolas" panose="020B0609020204030204" pitchFamily="49" charset="0"/>
              </a:rPr>
              <a:t>Столбец </a:t>
            </a:r>
            <a:r>
              <a:rPr lang="en-US" b="1" dirty="0" smtClean="0">
                <a:latin typeface="Consolas" panose="020B0609020204030204" pitchFamily="49" charset="0"/>
              </a:rPr>
              <a:t>&gt;</a:t>
            </a:r>
            <a:endParaRPr lang="ru-RU" b="1" dirty="0">
              <a:latin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41721" y="4887729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Consolas" panose="020B0609020204030204" pitchFamily="49" charset="0"/>
              </a:rPr>
              <a:t>Матрица </a:t>
            </a:r>
            <a:r>
              <a:rPr lang="en-US" b="1" dirty="0" smtClean="0">
                <a:latin typeface="Consolas" panose="020B0609020204030204" pitchFamily="49" charset="0"/>
              </a:rPr>
              <a:t>&gt;</a:t>
            </a:r>
            <a:endParaRPr lang="ru-RU" b="1" dirty="0">
              <a:latin typeface="Consolas" panose="020B0609020204030204" pitchFamily="49" charset="0"/>
            </a:endParaRPr>
          </a:p>
        </p:txBody>
      </p:sp>
      <p:cxnSp>
        <p:nvCxnSpPr>
          <p:cNvPr id="25" name="Прямая соединительная линия 24"/>
          <p:cNvCxnSpPr/>
          <p:nvPr/>
        </p:nvCxnSpPr>
        <p:spPr>
          <a:xfrm>
            <a:off x="2669713" y="3847759"/>
            <a:ext cx="5472608" cy="0"/>
          </a:xfrm>
          <a:prstGeom prst="line">
            <a:avLst/>
          </a:prstGeom>
          <a:ln w="25400">
            <a:solidFill>
              <a:srgbClr val="0C00F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/>
          <p:nvPr/>
        </p:nvCxnSpPr>
        <p:spPr>
          <a:xfrm>
            <a:off x="2597705" y="4552392"/>
            <a:ext cx="5910281" cy="0"/>
          </a:xfrm>
          <a:prstGeom prst="line">
            <a:avLst/>
          </a:prstGeom>
          <a:ln w="25400">
            <a:solidFill>
              <a:srgbClr val="0C00F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428700" y="2204864"/>
            <a:ext cx="62381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onsolas" panose="020B0609020204030204" pitchFamily="49" charset="0"/>
              </a:rPr>
              <a:t>&gt; </a:t>
            </a:r>
            <a:r>
              <a:rPr lang="ru-RU" sz="2000" dirty="0" smtClean="0">
                <a:latin typeface="Consolas" panose="020B0609020204030204" pitchFamily="49" charset="0"/>
              </a:rPr>
              <a:t>Параллельно вычисляет новое состояние всех клеток матрицы 16х32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102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27" y="332656"/>
            <a:ext cx="9079177" cy="655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4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8700" y="1196752"/>
            <a:ext cx="498085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Взаимодействие с </a:t>
            </a:r>
          </a:p>
          <a:p>
            <a:r>
              <a:rPr lang="ru-RU" sz="4000" b="1" dirty="0" smtClean="0">
                <a:latin typeface="Consolas" panose="020B0609020204030204" pitchFamily="49" charset="0"/>
              </a:rPr>
              <a:t>пользователем</a:t>
            </a:r>
            <a:endParaRPr lang="en-US" sz="4000" b="1" dirty="0" smtClean="0">
              <a:latin typeface="Consolas" panose="020B0609020204030204" pitchFamily="49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199" y="2564904"/>
            <a:ext cx="3149282" cy="3797915"/>
          </a:xfrm>
          <a:prstGeom prst="rect">
            <a:avLst/>
          </a:prstGeom>
        </p:spPr>
      </p:pic>
      <p:sp>
        <p:nvSpPr>
          <p:cNvPr id="5" name="Овал 4"/>
          <p:cNvSpPr/>
          <p:nvPr/>
        </p:nvSpPr>
        <p:spPr>
          <a:xfrm>
            <a:off x="5796136" y="5229200"/>
            <a:ext cx="432048" cy="432048"/>
          </a:xfrm>
          <a:prstGeom prst="ellipse">
            <a:avLst/>
          </a:prstGeom>
          <a:solidFill>
            <a:srgbClr val="05FF1D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Овал 5"/>
          <p:cNvSpPr/>
          <p:nvPr/>
        </p:nvSpPr>
        <p:spPr>
          <a:xfrm>
            <a:off x="5796136" y="4040198"/>
            <a:ext cx="432048" cy="432048"/>
          </a:xfrm>
          <a:prstGeom prst="ellipse">
            <a:avLst/>
          </a:prstGeom>
          <a:solidFill>
            <a:srgbClr val="FFFF00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Овал 6"/>
          <p:cNvSpPr/>
          <p:nvPr/>
        </p:nvSpPr>
        <p:spPr>
          <a:xfrm>
            <a:off x="5796136" y="2868653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rgbClr val="0900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636912"/>
            <a:ext cx="23762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onsolas" panose="020B0609020204030204" pitchFamily="49" charset="0"/>
              </a:rPr>
              <a:t>&gt; </a:t>
            </a:r>
            <a:r>
              <a:rPr lang="ru-RU" sz="2000" dirty="0" smtClean="0">
                <a:latin typeface="Consolas" panose="020B0609020204030204" pitchFamily="49" charset="0"/>
              </a:rPr>
              <a:t>Непрерывное      отображение новых поколений</a:t>
            </a:r>
            <a:endParaRPr lang="ru-R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72200" y="3939699"/>
            <a:ext cx="2376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onsolas" panose="020B0609020204030204" pitchFamily="49" charset="0"/>
              </a:rPr>
              <a:t>&gt; </a:t>
            </a:r>
            <a:r>
              <a:rPr lang="ru-RU" sz="2000" dirty="0" smtClean="0">
                <a:latin typeface="Consolas" panose="020B0609020204030204" pitchFamily="49" charset="0"/>
              </a:rPr>
              <a:t>Выполняется прерывание</a:t>
            </a:r>
            <a:endParaRPr lang="ru-RU" sz="2000" dirty="0">
              <a:latin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72200" y="5085184"/>
            <a:ext cx="2627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onsolas" panose="020B0609020204030204" pitchFamily="49" charset="0"/>
              </a:rPr>
              <a:t>&gt; </a:t>
            </a:r>
            <a:r>
              <a:rPr lang="ru-RU" sz="2000" dirty="0" smtClean="0">
                <a:latin typeface="Consolas" panose="020B0609020204030204" pitchFamily="49" charset="0"/>
              </a:rPr>
              <a:t>Режим настройки текущего состояния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116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8700" y="1196752"/>
            <a:ext cx="58272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Роль микропроцессора</a:t>
            </a:r>
            <a:endParaRPr lang="en-US" sz="4000" b="1" dirty="0" smtClean="0">
              <a:latin typeface="Consolas" panose="020B0609020204030204" pitchFamily="49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53" t="1819" r="13113"/>
          <a:stretch/>
        </p:blipFill>
        <p:spPr>
          <a:xfrm>
            <a:off x="6084168" y="4318234"/>
            <a:ext cx="2882842" cy="2135102"/>
          </a:xfrm>
          <a:prstGeom prst="rect">
            <a:avLst/>
          </a:prstGeom>
          <a:ln w="38100" cap="sq">
            <a:solidFill>
              <a:srgbClr val="0C00F2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417" y="5038314"/>
            <a:ext cx="858679" cy="855159"/>
          </a:xfrm>
          <a:prstGeom prst="rect">
            <a:avLst/>
          </a:prstGeom>
        </p:spPr>
      </p:pic>
      <p:cxnSp>
        <p:nvCxnSpPr>
          <p:cNvPr id="34" name="Прямая со стрелкой 33"/>
          <p:cNvCxnSpPr/>
          <p:nvPr/>
        </p:nvCxnSpPr>
        <p:spPr>
          <a:xfrm flipH="1">
            <a:off x="7012097" y="5038314"/>
            <a:ext cx="436576" cy="319567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339752" y="2132856"/>
            <a:ext cx="64699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Consolas" panose="020B0609020204030204" pitchFamily="49" charset="0"/>
              </a:rPr>
              <a:t>&gt;</a:t>
            </a:r>
            <a:r>
              <a:rPr lang="ru-RU" sz="2400" dirty="0" smtClean="0">
                <a:latin typeface="Consolas" panose="020B0609020204030204" pitchFamily="49" charset="0"/>
              </a:rPr>
              <a:t> Принимает сигналы с кнопок, вызывая необходимые прерывания.</a:t>
            </a:r>
          </a:p>
          <a:p>
            <a:endParaRPr lang="ru-RU" sz="2400" dirty="0" smtClean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</a:t>
            </a:r>
            <a:r>
              <a:rPr lang="ru-RU" sz="2400" dirty="0">
                <a:latin typeface="Consolas" panose="020B0609020204030204" pitchFamily="49" charset="0"/>
              </a:rPr>
              <a:t> </a:t>
            </a:r>
            <a:r>
              <a:rPr lang="ru-RU" sz="2400" dirty="0" smtClean="0">
                <a:latin typeface="Consolas" panose="020B0609020204030204" pitchFamily="49" charset="0"/>
              </a:rPr>
              <a:t>Манипулирует адресами и битовой маской.</a:t>
            </a:r>
            <a:endParaRPr lang="ru-R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39752" y="4289028"/>
            <a:ext cx="35950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</a:t>
            </a:r>
            <a:r>
              <a:rPr lang="ru-RU" sz="2400" dirty="0">
                <a:latin typeface="Consolas" panose="020B0609020204030204" pitchFamily="49" charset="0"/>
              </a:rPr>
              <a:t> Управляет флагами для индикаторов и обновления состояния матрицы.</a:t>
            </a:r>
            <a:endParaRPr lang="ru-RU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996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8700" y="1196752"/>
            <a:ext cx="3570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Что в итоге?</a:t>
            </a:r>
            <a:endParaRPr lang="en-US" sz="4000" b="1" dirty="0" smtClean="0">
              <a:latin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28699" y="2309971"/>
            <a:ext cx="6469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00B050"/>
                </a:solidFill>
                <a:latin typeface="Consolas" panose="020B0609020204030204" pitchFamily="49" charset="0"/>
              </a:rPr>
              <a:t>+</a:t>
            </a:r>
            <a:r>
              <a:rPr lang="en-US" sz="2400" b="1" dirty="0" smtClean="0">
                <a:latin typeface="Consolas" panose="020B0609020204030204" pitchFamily="49" charset="0"/>
              </a:rPr>
              <a:t> </a:t>
            </a:r>
            <a:r>
              <a:rPr lang="ru-RU" sz="2400" b="1" dirty="0" smtClean="0">
                <a:latin typeface="Consolas" panose="020B0609020204030204" pitchFamily="49" charset="0"/>
              </a:rPr>
              <a:t>Высочайшая скорость вычислений новых поколений.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778" y="3452807"/>
            <a:ext cx="6469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00B050"/>
                </a:solidFill>
                <a:latin typeface="Consolas" panose="020B0609020204030204" pitchFamily="49" charset="0"/>
              </a:rPr>
              <a:t>+</a:t>
            </a:r>
            <a:r>
              <a:rPr lang="en-US" sz="2400" b="1" dirty="0" smtClean="0">
                <a:latin typeface="Consolas" panose="020B0609020204030204" pitchFamily="49" charset="0"/>
              </a:rPr>
              <a:t> </a:t>
            </a:r>
            <a:r>
              <a:rPr lang="ru-RU" sz="2400" dirty="0" smtClean="0">
                <a:latin typeface="Consolas" panose="020B0609020204030204" pitchFamily="49" charset="0"/>
              </a:rPr>
              <a:t>Реализация детальной настройки состояния клеток, тороидальной поверхности и счётчика поколений.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857" y="4974267"/>
            <a:ext cx="6469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00B050"/>
                </a:solidFill>
                <a:latin typeface="Consolas" panose="020B0609020204030204" pitchFamily="49" charset="0"/>
              </a:rPr>
              <a:t>+</a:t>
            </a:r>
            <a:r>
              <a:rPr lang="en-US" sz="2400" b="1" dirty="0" smtClean="0">
                <a:latin typeface="Consolas" panose="020B0609020204030204" pitchFamily="49" charset="0"/>
              </a:rPr>
              <a:t> </a:t>
            </a:r>
            <a:r>
              <a:rPr lang="ru-RU" sz="2400" dirty="0" smtClean="0">
                <a:latin typeface="Consolas" panose="020B0609020204030204" pitchFamily="49" charset="0"/>
              </a:rPr>
              <a:t>Корректное синхронизированное выполнение всех процессов.</a:t>
            </a:r>
          </a:p>
        </p:txBody>
      </p:sp>
    </p:spTree>
    <p:extLst>
      <p:ext uri="{BB962C8B-B14F-4D97-AF65-F5344CB8AC3E}">
        <p14:creationId xmlns:p14="http://schemas.microsoft.com/office/powerpoint/2010/main" val="114225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8700" y="1196752"/>
            <a:ext cx="3570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 smtClean="0">
                <a:latin typeface="Consolas" panose="020B0609020204030204" pitchFamily="49" charset="0"/>
              </a:rPr>
              <a:t>Что в итоге?</a:t>
            </a:r>
            <a:endParaRPr lang="en-US" sz="4000" b="1" dirty="0" smtClean="0">
              <a:latin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28699" y="2237963"/>
            <a:ext cx="6469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-</a:t>
            </a:r>
            <a:r>
              <a:rPr lang="en-US" sz="2400" b="1" dirty="0" smtClean="0">
                <a:latin typeface="Consolas" panose="020B0609020204030204" pitchFamily="49" charset="0"/>
              </a:rPr>
              <a:t> </a:t>
            </a:r>
            <a:r>
              <a:rPr lang="ru-RU" sz="2400" b="1" dirty="0" smtClean="0">
                <a:latin typeface="Consolas" panose="020B0609020204030204" pitchFamily="49" charset="0"/>
              </a:rPr>
              <a:t>Высокая нагрузка на аппаратную часть.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808" y="4581128"/>
            <a:ext cx="5516922" cy="1152128"/>
          </a:xfrm>
          <a:prstGeom prst="rect">
            <a:avLst/>
          </a:prstGeom>
          <a:ln w="38100">
            <a:solidFill>
              <a:srgbClr val="FF0000"/>
            </a:solidFill>
            <a:prstDash val="dash"/>
          </a:ln>
        </p:spPr>
      </p:pic>
      <p:sp>
        <p:nvSpPr>
          <p:cNvPr id="9" name="TextBox 8"/>
          <p:cNvSpPr txBox="1"/>
          <p:nvPr/>
        </p:nvSpPr>
        <p:spPr>
          <a:xfrm>
            <a:off x="2441778" y="3246075"/>
            <a:ext cx="6469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-</a:t>
            </a:r>
            <a:r>
              <a:rPr lang="en-US" sz="2400" b="1" dirty="0" smtClean="0">
                <a:latin typeface="Consolas" panose="020B0609020204030204" pitchFamily="49" charset="0"/>
              </a:rPr>
              <a:t> </a:t>
            </a:r>
            <a:r>
              <a:rPr lang="ru-RU" sz="2400" dirty="0" smtClean="0">
                <a:latin typeface="Consolas" panose="020B0609020204030204" pitchFamily="49" charset="0"/>
              </a:rPr>
              <a:t>Низкая эффективность </a:t>
            </a:r>
            <a:r>
              <a:rPr lang="ru-RU" sz="2400" dirty="0">
                <a:latin typeface="Consolas" panose="020B0609020204030204" pitchFamily="49" charset="0"/>
              </a:rPr>
              <a:t>детальной настройки состояния клеток</a:t>
            </a:r>
            <a:r>
              <a:rPr lang="ru-RU" sz="2400" dirty="0" smtClean="0"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2535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0688"/>
            <a:ext cx="9144000" cy="612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84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4275</TotalTime>
  <Words>215</Words>
  <Application>Microsoft Office PowerPoint</Application>
  <PresentationFormat>Экран (4:3)</PresentationFormat>
  <Paragraphs>44</Paragraphs>
  <Slides>11</Slides>
  <Notes>9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of Life</dc:title>
  <dc:creator>Кристина Кудрина</dc:creator>
  <cp:lastModifiedBy>Кристина Кудрина</cp:lastModifiedBy>
  <cp:revision>33</cp:revision>
  <dcterms:created xsi:type="dcterms:W3CDTF">2026-05-07T12:56:13Z</dcterms:created>
  <dcterms:modified xsi:type="dcterms:W3CDTF">2026-05-17T17:26:28Z</dcterms:modified>
</cp:coreProperties>
</file>